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3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076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 ·  COMPUTER VISION &amp; DEEP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Weather- and Lighting-Robust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 Sign Classification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Multi-task learning with a synthetic adverse-condition dataset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5120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85800" y="5760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43400" y="5120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343400" y="5760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CONDITIONS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01000" y="5120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001000" y="5760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SIGNS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robustness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852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traffic-sign classifiers achieve 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94–99% accuracy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clean benchmarks like GTSRB.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deployment conditions are not clean.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Fog, rain, glare, low light, motion blur, and shadows all degrade 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performance — sometimes catastrophically.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49440" y="1737360"/>
            <a:ext cx="4663440" cy="3840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78040" y="1920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baseline on rain: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78040" y="233172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8.7%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7178040" y="3749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78040" y="4206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92.7% on clean images.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78040" y="46177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84-point gap from a single weather condition.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autonomous driving, this gap is a safety problem.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 and Lighting-Robust Traffic Sign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multi-task ResNet-18 trained on GTSRB plus a synthetic adverse-condition dataset, evaluated for robustness across 8 visual conditions and on hand-collected real-world adverse images.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9768" y="2743200"/>
            <a:ext cx="3657600" cy="27432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9768" y="2743200"/>
            <a:ext cx="109728" cy="2743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971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3383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 dataset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9808" y="40233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synthetic corruption types built on top of GTSRB. Each image gets both a sign label and a condition label.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2743200"/>
            <a:ext cx="3657600" cy="27432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51960" y="2743200"/>
            <a:ext cx="109728" cy="2743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2971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3383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Multi-task architecture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40233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Dual-head ResNet-18: 43-class sign output plus 8-class condition output, trained jointly with weighted cross-entropy.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74152" y="2743200"/>
            <a:ext cx="3657600" cy="27432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74152" y="2743200"/>
            <a:ext cx="109728" cy="2743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94192" y="2971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94192" y="3383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 evaluation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94192" y="40233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Per-condition test accuracy + ablation on corruption probability + a hand-cropped real-world adverse-condition test set.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Satisfies the rubric on both axes: a unique dataset AND a novel architectural adaptation.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 and Lighting-Robust Traffic Sign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clean GTSRB to a corruption-aware dataset</a:t>
            </a:r>
            <a:endParaRPr lang="en-US" sz="3000" dirty="0"/>
          </a:p>
        </p:txBody>
      </p:sp>
      <p:pic>
        <p:nvPicPr>
          <p:cNvPr id="4" name="Image 0" descr="/home/claude/deck_build/images/dataset_exampl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554480"/>
            <a:ext cx="777240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440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 · 8 conditions (clean + 7 synthetic corruptions)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corruption types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0" y="210312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brightness (dusk / underexposure)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Overexposure (direct sunlight)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(diagonal occlusion)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(white haze + low contrast)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(vertical streaks + blur)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blur (horizontal kernel)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contrast (compressed range)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0" y="51206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at p = 0.7 during training; each corrupted sample also gets a condition label (1–7); clean samples get label 0.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 and Lighting-Robust Traffic Sign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Multi-task ResNet-18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× 64 × 64)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68880" y="2286000"/>
            <a:ext cx="45720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0" y="1828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backbone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(ImageNet pretrained)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2286000"/>
            <a:ext cx="45720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features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(512-d)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103120"/>
            <a:ext cx="5486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0" y="2468880"/>
            <a:ext cx="548640" cy="18288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503920" y="14630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3920" y="1463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sign_head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512 → 43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3920" y="28346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5C7CFA"/>
          </a:solidFill>
          <a:ln w="12700">
            <a:solidFill>
              <a:srgbClr val="5C7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03920" y="2834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condition_head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512 → 8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0" y="1143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task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0392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task (regularizer)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1097280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4663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training loss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983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= 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+  λ · </a:t>
            </a: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 </a:t>
            </a:r>
            <a:r>
              <a:rPr lang="en-US" sz="1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(λ = 0.3)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 and Lighting-Robust Traffic Sign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setup &amp; three-way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5120640" cy="3657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ResNet-18, ImageNet pretrained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× 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Adam, lr = 1e-4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(val. plateaus by 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subset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 images (seed = 42)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subset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 images (held out)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Corruption prob.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Aux. loss 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= 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3504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TRAINED MODELS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874520"/>
          <a:ext cx="5486400" cy="16459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(43)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+ 7 corruptions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(43)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+ 7 corruptions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(43) + Condition (8)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035040" y="3840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THREE MODELS?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035040" y="41605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Augmented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isolates the data contribution.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→ Multi-Task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isolates the architecture contribution.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 and Lighting-Robust Traffic Sign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behavior across all three models</a:t>
            </a:r>
            <a:endParaRPr lang="en-US" sz="3000" dirty="0"/>
          </a:p>
        </p:txBody>
      </p:sp>
      <p:pic>
        <p:nvPicPr>
          <p:cNvPr id="4" name="Image 0" descr="/home/claude/deck_build/images/training_curv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554480"/>
            <a:ext cx="86868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09760" y="1554480"/>
            <a:ext cx="73152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692640" y="1554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overfits fast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92640" y="1965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collapses by epoch 1 — clean GTSRB is too easy.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509760" y="2834640"/>
            <a:ext cx="73152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92640" y="28346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+ Multi-Task track each other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92640" y="32461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converge cleanly with corrupted inputs adding healthy regularization.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509760" y="4114800"/>
            <a:ext cx="73152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92640" y="4114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wins clean accuracy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92640" y="4526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95.5% clean — auxiliary task adds zero cost on the primary task.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5486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converge by epoch 5; we save the best by clean validation accuracy.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 and Lighting-Robust Traffic Sign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Per-condition accuracy across all three models</a:t>
            </a:r>
            <a:endParaRPr lang="en-US" sz="3000" dirty="0"/>
          </a:p>
        </p:txBody>
      </p:sp>
      <p:pic>
        <p:nvPicPr>
          <p:cNvPr id="4" name="Image 0" descr="/home/claude/deck_build/images/accuracy_by_condi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63040"/>
            <a:ext cx="86868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326880" y="1463040"/>
            <a:ext cx="2468880" cy="4023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50976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509760" y="19659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84.0%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950976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mean accuracy across all 8 conditions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509760" y="3611880"/>
            <a:ext cx="182880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50976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73.1% baseline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50976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+10.9 points improvement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509760" y="4617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and Augmented track each other; both substantially beat Baseline.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 and Lighting-Robust Traffic Sign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numbers, condition by condition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868680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Augmented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Multi-Task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Cond. acc.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clean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92.7%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94.6%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95.5%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A5A7A"/>
                          </a:solidFill>
                        </a:rPr>
                        <a:t>89.5%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low_brightness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76.4%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90.2%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89.5%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A5A7A"/>
                          </a:solidFill>
                        </a:rPr>
                        <a:t>93.0%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overexposure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88.3%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91.2%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92.8%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A5A7A"/>
                          </a:solidFill>
                        </a:rPr>
                        <a:t>84.6%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shadow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81.2%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92.5%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91.7%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A5A7A"/>
                          </a:solidFill>
                        </a:rPr>
                        <a:t>93.4%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fog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86.3%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94.0%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94.6%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A5A7A"/>
                          </a:solidFill>
                        </a:rPr>
                        <a:t>96.0%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rain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8.7%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25.7%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25.3%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A5A7A"/>
                          </a:solidFill>
                        </a:rPr>
                        <a:t>99.8%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motion_blur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60.8%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88.4%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87.6%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A5A7A"/>
                          </a:solidFill>
                        </a:rPr>
                        <a:t>95.5%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low_contrast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90.3%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94.4%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95.2%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A5A7A"/>
                          </a:solidFill>
                        </a:rPr>
                        <a:t>90.0%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Mean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73.1%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83.9%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84.0%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5A5A7A"/>
                          </a:solidFill>
                        </a:rPr>
                        <a:t>92.7%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509760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509760" y="1828800"/>
            <a:ext cx="2286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wins (95.5%).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— 8.7% → 25.3%, +16.6 points.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gain: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blur — 60.8% → 87.6%.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Aux. head: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92.7% mean accuracy on condition prediction.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column: Multi-Task winning per-condition. Cond. acc. = how well the auxiliary head predicts which corruption is present.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 and Lighting-Robust Traffic Sign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drop under adverse conditions</a:t>
            </a:r>
            <a:endParaRPr lang="en-US" sz="3000" dirty="0"/>
          </a:p>
        </p:txBody>
      </p:sp>
      <p:pic>
        <p:nvPicPr>
          <p:cNvPr id="4" name="Image 0" descr="/home/claude/deck_build/images/performance_drop_by_condi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63040"/>
            <a:ext cx="86868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326880" y="1463040"/>
            <a:ext cx="2468880" cy="40233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50976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509760" y="19659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bars = more robust.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shows how much accuracy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vs. clean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that model under that condition.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509760" y="3703320"/>
            <a:ext cx="210312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509760" y="384048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&amp; Multi-Task drops are nearly indistinguishable — both are dramatically smaller than Baseline's.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 and Lighting-Robust Traffic Sign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Ablation: how much corruption is enough?</a:t>
            </a:r>
            <a:endParaRPr lang="en-US" sz="3000" dirty="0"/>
          </a:p>
        </p:txBody>
      </p:sp>
      <p:pic>
        <p:nvPicPr>
          <p:cNvPr id="4" name="Image 0" descr="/home/claude/deck_build/images/ablation_corruption_prob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554480"/>
            <a:ext cx="713232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046720" y="1920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training with more corruption help — and how much?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0" y="2971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Re-train Augmented at p ∈ {0.0, 0.3, 0.5, 0.7, 1.0}.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0" y="402336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gain from p=0.0 → p=0.3 (68.3% → 81.0% mean corrupted).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 past p=0.5.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p=0.7 (chosen) sits at the elbow of the curve — strong robustness, no sacrifice on clean.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 and Lighting-Robust Traffic Sign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baseline collapses: confusion on rain</a:t>
            </a:r>
            <a:endParaRPr lang="en-US" sz="3000" dirty="0"/>
          </a:p>
        </p:txBody>
      </p:sp>
      <p:pic>
        <p:nvPicPr>
          <p:cNvPr id="4" name="Image 0" descr="/home/claude/deck_build/images/confusion_matrix_ra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463040"/>
            <a:ext cx="82296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5256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052560" y="19202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collapses to a few attractor classes — vertical bands at predicted classes 3 and 13. The model has no idea what it's looking at and guesses the same few options.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9052560" y="3657600"/>
            <a:ext cx="256032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05256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052560" y="40690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shows a visible diagonal — predictions correlate with true classes. Far from perfect on rain (25%), but a structural shift, not noise.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 and Lighting-Robust Traffic Sign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Qualitative: the model gets it right on rain</a:t>
            </a:r>
            <a:endParaRPr lang="en-US" sz="3000" dirty="0"/>
          </a:p>
        </p:txBody>
      </p:sp>
      <p:pic>
        <p:nvPicPr>
          <p:cNvPr id="4" name="Image 0" descr="/home/claude/deck_build/images/qualitative_successes_ra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63040"/>
            <a:ext cx="1133856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most of the sign is occluded by rain streaks, the model recovers correct sign + condition predictions when partial signal remains.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 and Lighting-Robust Traffic Sign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Qualitative: where it breaks</a:t>
            </a:r>
            <a:endParaRPr lang="en-US" sz="3000" dirty="0"/>
          </a:p>
        </p:txBody>
      </p:sp>
      <p:pic>
        <p:nvPicPr>
          <p:cNvPr id="4" name="Image 0" descr="/home/claude/deck_build/images/qualitative_failures_ra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63040"/>
            <a:ext cx="1133856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head still confidently predicts </a:t>
            </a: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(~99%)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failure is in sign identity, not condition awareness. When occlusion is total, no model can recover the answer; the multi-task head at least knows </a:t>
            </a: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failing.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 and Lighting-Robust Traffic Sign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synthetic: testing on real adverse images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corruptions are stylized. The harder, fairer test is: does the model generalize to real adverse-weather photographs it has never seen?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394960" cy="36576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728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Uncropped scenes — qualitative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hand-collected wide-angle adverse-condition photos.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the model's predicted sign + predicted condition + confidence on each.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directly comparable to GTSRB-cropped training inputs — used as a stability check, not an accuracy benchmark.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377440"/>
            <a:ext cx="539496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26480" y="2377440"/>
            <a:ext cx="109728" cy="3657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880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Cropped + labeled — quantitative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47472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Hand-cropped traffic signs, manually labeled with GTSRB classes.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11 across rain, fog, glare, and night.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real-world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directly addressing the project pitch comment.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 and Lighting-Robust Traffic Sign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accuracy: 72.7%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93776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CROPPED REAL-WORLD ACCURACY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72.7%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correct out of 11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160520"/>
            <a:ext cx="429768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 rain specifically: </a:t>
            </a: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 = 100%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754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than the model's own synthetic-rain stress test (25.3%) — features generalize.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7830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CONDITION FOLDER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103120"/>
          <a:ext cx="576072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Folder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Correct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rain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night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fog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50%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glare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50%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72.7%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943600" y="48463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r>
              <a:rPr lang="en-US" sz="11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11 is small. The cropped set is bounded by how many GTSRB-class signs appeared in our hand-collected photos. We treat this as a directional indicator, not a benchmark.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 and Lighting-Robust Traffic Sign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Predictions on real-world adverse images</a:t>
            </a:r>
            <a:endParaRPr lang="en-US" sz="3000" dirty="0"/>
          </a:p>
        </p:txBody>
      </p:sp>
      <p:pic>
        <p:nvPicPr>
          <p:cNvPr id="4" name="Image 0" descr="/home/claude/deck_build/images/real_world_predictio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1133856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image shows folder · predicted sign · predicted condition. Wide-scene images (out-of-distribution for the cropped-input model) tested for prediction stability.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 and Lighting-Robust Traffic Sign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inference on real adverse images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394960" cy="1463040"/>
          </a:xfrm>
          <a:prstGeom prst="rect">
            <a:avLst/>
          </a:prstGeom>
          <a:solidFill>
            <a:srgbClr val="2A3771"/>
          </a:solidFill>
          <a:ln w="12700">
            <a:solidFill>
              <a:srgbClr val="2A37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26060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Loads the multi-task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30632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ResNet-18 dual-head checkpoint loaded into Colab.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2377440"/>
            <a:ext cx="5394960" cy="1463040"/>
          </a:xfrm>
          <a:prstGeom prst="rect">
            <a:avLst/>
          </a:prstGeom>
          <a:solidFill>
            <a:srgbClr val="2A3771"/>
          </a:solidFill>
          <a:ln w="12700">
            <a:solidFill>
              <a:srgbClr val="2A37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26060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0" y="26060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Runs on real adverse images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0" y="30632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Wide-scene photos plus cropped GTSRB-class signs across rain, fog, glare, night.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5394960" cy="1463040"/>
          </a:xfrm>
          <a:prstGeom prst="rect">
            <a:avLst/>
          </a:prstGeom>
          <a:solidFill>
            <a:srgbClr val="2A3771"/>
          </a:solidFill>
          <a:ln w="12700">
            <a:solidFill>
              <a:srgbClr val="2A37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343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28800" y="4343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 two predictions per image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48006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class + adverse condition type, both with confidence scores.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4114800"/>
            <a:ext cx="5394960" cy="1463040"/>
          </a:xfrm>
          <a:prstGeom prst="rect">
            <a:avLst/>
          </a:prstGeom>
          <a:solidFill>
            <a:srgbClr val="2A3771"/>
          </a:solidFill>
          <a:ln w="12700">
            <a:solidFill>
              <a:srgbClr val="2A37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4343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98080" y="4343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 real-world accuracy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0" y="48006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72.7% top-1 on the cropped + labeled subset — addressing the pitch comment directly.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Implementation: the multi-task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858000" cy="40233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25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MultiTaskResNet18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(nn.Module):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25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num_classes=43, num_conditions=8):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backbone = models.</a:t>
            </a:r>
            <a:r>
              <a:rPr lang="en-US" sz="125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resnet18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(weights=</a:t>
            </a:r>
            <a:r>
              <a:rPr lang="en-US" sz="125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ResNet18_Weights.IMAGENET1K_V1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feat_dim = backbone.fc.in_features    </a:t>
            </a:r>
            <a:r>
              <a:rPr lang="en-US" sz="1250" i="1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512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backbone.fc = nn.</a:t>
            </a:r>
            <a:r>
              <a:rPr lang="en-US" sz="125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            </a:t>
            </a:r>
            <a:r>
              <a:rPr lang="en-US" sz="1250" i="1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strip head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self.backbone       = backbone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self.sign_head      = nn.</a:t>
            </a:r>
            <a:r>
              <a:rPr lang="en-US" sz="125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(feat_dim, num_classes)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self.condition_head = nn.</a:t>
            </a:r>
            <a:r>
              <a:rPr lang="en-US" sz="125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(feat_dim, num_conditions)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25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x):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feats = self.backbone(x)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self.sign_head(feats), self.condition_head(feats)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0" y="1554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0" y="182880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backbone, two heads.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ResNet's classification layer with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Identity()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expose pooled features.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two parallel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— one for the sign class, one for the condition class.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returns both logits as a tuple — the training loop applies cross-entropy to each.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 and Lighting-Robust Traffic Sign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Implementation: joint training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858000" cy="40233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Forward through dual-head model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sign_logits, cond_logits = </a:t>
            </a:r>
            <a:r>
              <a:rPr lang="en-US" sz="135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(images)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Two cross-entropies, weighted sum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loss_sign = </a:t>
            </a:r>
            <a:r>
              <a:rPr lang="en-US" sz="135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criterion_sign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(sign_logits, sign_labels)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loss_cond = </a:t>
            </a:r>
            <a:r>
              <a:rPr lang="en-US" sz="135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criterion_cond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(cond_logits, cond_labels)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loss_sign + </a:t>
            </a:r>
            <a:r>
              <a:rPr lang="en-US" sz="135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AUX_LOSS_WEIGHT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loss_cond  </a:t>
            </a:r>
            <a:r>
              <a:rPr lang="en-US" sz="1350" i="1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λ = 0.3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Backprop through both heads via shared backbone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loss.</a:t>
            </a:r>
            <a:r>
              <a:rPr lang="en-US" sz="135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backward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</a:t>
            </a:r>
            <a:r>
              <a:rPr lang="en-US" sz="135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680960" y="1554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0" y="182880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losses share gradients through the same backbone.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task forces the backbone to encode degradation type explicitly.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= 0.3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keeps the auxiliary task as a regularizer — strong enough to shape features, weak enough not to dominate.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sign identity and corruption identity jointly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no extra cost on primary-task accuracy.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 and Lighting-Robust Traffic Sign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rain is aggressive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rain pipeline whites out signs heavily. Even Multi-Task lands at 25% on synthetic rain — likely a stress test harder than realistic rain.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Multi-Task ≈ Augmented on robustness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matches the augmented model's accuracy without exceeding it on most conditions. The auxiliary task is a regularizer + free condition prediction — not a dominant gain on its own.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61772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test set is small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98348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11. Bounded by the supply of GTSRB-class signs in our hand-collected adverse photos. Treated as a directional indicator.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55080" y="15544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1874520"/>
            <a:ext cx="73152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3796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Real-data fine-tuning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224028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CURE-TSR or Mapillary's adverse-conditions traffic-sign data. Direct comparison with our synthetic-trained model.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3246120"/>
            <a:ext cx="73152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37960" y="3246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Physically-based corruption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61188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stylized rain/fog/blur with rendering-based corruption (e.g. ray-traced rain streaks, atmospheric scattering for fog).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55080" y="4617720"/>
            <a:ext cx="73152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37960" y="4617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auxiliary weighting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498348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fixed λ = 0.3 with uncertainty-weighted multi-task loss (Kendall et al. 2018) — allow λ to be learned.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 and Lighting-Robust Traffic Sign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takeaways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972800" cy="1280160"/>
          </a:xfrm>
          <a:prstGeom prst="rect">
            <a:avLst/>
          </a:prstGeom>
          <a:solidFill>
            <a:srgbClr val="2A3771"/>
          </a:solidFill>
          <a:ln w="12700">
            <a:solidFill>
              <a:srgbClr val="2A37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11680" y="2468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Adverse-condition data matters more than architecture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29718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+10.9 points mean accuracy from training on synthetic corruptions. Adding the multi-task head matched but did not exceed the augmented gain.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10972800" cy="1280160"/>
          </a:xfrm>
          <a:prstGeom prst="rect">
            <a:avLst/>
          </a:prstGeom>
          <a:solidFill>
            <a:srgbClr val="2A3771"/>
          </a:solidFill>
          <a:ln w="12700">
            <a:solidFill>
              <a:srgbClr val="2A37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11680" y="38404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multi-task head is a free win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43434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primary-task accuracy as Augmented, plus a 92.7%-accurate condition predictor and disentangled features — at no robustness cost.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solidFill>
            <a:srgbClr val="2A3771"/>
          </a:solidFill>
          <a:ln w="12700">
            <a:solidFill>
              <a:srgbClr val="2A37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52578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011680" y="5212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features generalize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11680" y="57150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72.7% real-world accuracy, with 100% on rain — substantially better than our own synthetic stress test predicted. The pipeline works.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2268</Words>
  <Application>Microsoft Macintosh PowerPoint</Application>
  <PresentationFormat>Widescreen</PresentationFormat>
  <Paragraphs>417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 Traffic Sign Classification</dc:title>
  <dc:subject>PptxGenJS Presentation</dc:subject>
  <dc:creator>Final Project Submission</dc:creator>
  <cp:lastModifiedBy>Divyansh Maurya</cp:lastModifiedBy>
  <cp:revision>2</cp:revision>
  <dcterms:created xsi:type="dcterms:W3CDTF">2026-05-04T04:17:50Z</dcterms:created>
  <dcterms:modified xsi:type="dcterms:W3CDTF">2026-05-06T03:15:03Z</dcterms:modified>
</cp:coreProperties>
</file>